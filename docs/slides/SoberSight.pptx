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Background: standardized alcohol test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7500" y="1152475"/>
            <a:ext cx="5486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149688"/>
              <a:buNone/>
            </a:pPr>
            <a:r>
              <a:rPr b="1" lang="en" sz="1300">
                <a:solidFill>
                  <a:schemeClr val="dk1"/>
                </a:solidFill>
              </a:rPr>
              <a:t>Alcohol impairment is a safety risk far beyond driving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Pre-duty and random alcohol screening is mandated across aviation, rail, trucking, maritime, heavy industry, and healthcare — not only roadside DUI enforcement </a:t>
            </a:r>
            <a:r>
              <a:rPr i="1" lang="en" sz="1200">
                <a:solidFill>
                  <a:schemeClr val="dk2"/>
                </a:solidFill>
              </a:rPr>
              <a:t>(e.g., U.S. DOT 49 CFR Part 40).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149688"/>
              <a:buNone/>
            </a:pPr>
            <a:r>
              <a:rPr b="1" lang="en" sz="1300">
                <a:solidFill>
                  <a:schemeClr val="dk1"/>
                </a:solidFill>
              </a:rPr>
              <a:t>Established, validated screening modalities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Evidential breath and blood tests quantify breath/blood alcohol concentration (BrAC/BAC) and are the legal standard of proof for impairment.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Standardized Field Sobriety Test (SFST) battery — including Horizontal Gaze Nystagmus — validated by NHTSA as a reliable indicator of BAC ≥ 0.08% </a:t>
            </a:r>
            <a:r>
              <a:rPr i="1" lang="en" sz="1200">
                <a:solidFill>
                  <a:schemeClr val="dk2"/>
                </a:solidFill>
              </a:rPr>
              <a:t>(Stuster &amp; Burns, 1998).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149688"/>
              <a:buNone/>
            </a:pPr>
            <a:r>
              <a:rPr b="1" lang="en" sz="1300">
                <a:solidFill>
                  <a:schemeClr val="dk1"/>
                </a:solidFill>
              </a:rPr>
              <a:t>Limitation: Shared operating assumption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All of these assume the operator is physically present, a trained administrator is on site, and dedicated hardware is at hand.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b="1" lang="en" sz="1200">
                <a:solidFill>
                  <a:schemeClr val="dk1"/>
                </a:solidFill>
              </a:rPr>
              <a:t>Always administrator + site bound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0325" y="492362"/>
            <a:ext cx="1036100" cy="126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9262" y="1910663"/>
            <a:ext cx="1577125" cy="10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3695" y="3150282"/>
            <a:ext cx="2588250" cy="150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4"/>
            <a:ext cx="8520600" cy="7074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 shift: safety-critical work is moving to remote control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SzPct val="121622"/>
              <a:buNone/>
            </a:pPr>
            <a:r>
              <a:rPr b="1" lang="en" sz="1600">
                <a:solidFill>
                  <a:schemeClr val="dk1"/>
                </a:solidFill>
              </a:rPr>
              <a:t>Large under Population &amp; Scaling fast</a:t>
            </a:r>
            <a:endParaRPr b="1" sz="16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15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ct val="92664"/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</a:rPr>
              <a:t>Nearly 8 million people hold safety-sensitive transportation jobs — pilots, truck drivers, subway operators, ship captains, pipeline controllers, locomotive engineers — all covered by DOT drug-and-alcohol regulations </a:t>
            </a:r>
            <a:r>
              <a:rPr i="1" lang="en" sz="1400"/>
              <a:t>(U.S. DOT).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2664"/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</a:rPr>
              <a:t>Remote operation is the fastest-growing edge: 400,000+ FAA-certified remote pilots and ~390,000 registered commercial drones (Aug 2024); the market is forecast to roughly triple to ~$35B by 2028 </a:t>
            </a:r>
            <a:r>
              <a:rPr i="1" lang="en" sz="1400"/>
              <a:t>(FAA UAS data, 2024).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92664"/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</a:rPr>
              <a:t>Teleoperated control already runs mining haulage, trucking, and last-mile delivery; “remote driving” is formalized in SAE J3016 and permitted in Germany and several U.S. states </a:t>
            </a:r>
            <a:r>
              <a:rPr i="1" lang="en" sz="1400"/>
              <a:t>(SAE J3016, 2021).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SzPct val="149688"/>
              <a:buNone/>
            </a:pPr>
            <a:r>
              <a:rPr b="1" lang="en" sz="1300">
                <a:solidFill>
                  <a:schemeClr val="dk1"/>
                </a:solidFill>
              </a:rPr>
              <a:t>Fitness-for-duty is a hard, safety-sensitive requirement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Aviation treats remote pilots as safety-sensitive — no operation within 8 h of alcohol or at BAC ≥ 0.04% </a:t>
            </a:r>
            <a:r>
              <a:rPr i="1" lang="en" sz="1200">
                <a:solidFill>
                  <a:schemeClr val="dk2"/>
                </a:solidFill>
              </a:rPr>
              <a:t>(FAA §107.27 / §91.17)</a:t>
            </a:r>
            <a:r>
              <a:rPr lang="en" sz="1200">
                <a:solidFill>
                  <a:schemeClr val="dk1"/>
                </a:solidFill>
              </a:rPr>
              <a:t>; remote-driving guidance likewise mandates licensed operators </a:t>
            </a:r>
            <a:r>
              <a:rPr i="1" lang="en" sz="1200">
                <a:solidFill>
                  <a:schemeClr val="dk2"/>
                </a:solidFill>
              </a:rPr>
              <a:t>(e.g., German BASt).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SzPct val="149688"/>
              <a:buNone/>
            </a:pPr>
            <a:r>
              <a:rPr b="1" lang="en" sz="1300">
                <a:solidFill>
                  <a:schemeClr val="dk1"/>
                </a:solidFill>
              </a:rPr>
              <a:t>… but current enforcement does not fit the console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Oversight rests on self-certification plus post-incident testing — no operator-side, pre-shift check.</a:t>
            </a:r>
            <a:endParaRPr/>
          </a:p>
          <a:p>
            <a:pPr indent="-209550" lvl="1" marL="74295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62162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Need = a self-administered, few-second, hardware-free readiness check, enforceable pre-shift and periodically.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Why current smartphone methods fall short as a pass/fail gate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375075"/>
            <a:ext cx="85206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</a:rPr>
              <a:t>Current approaches rely on voluntary behavior / performance signals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Gait and body sway from phone accelerometers </a:t>
            </a:r>
            <a:r>
              <a:rPr i="1" lang="en" sz="1200">
                <a:solidFill>
                  <a:schemeClr val="dk2"/>
                </a:solidFill>
              </a:rPr>
              <a:t>(Suffoletto et al., 2020; Kao et al., 2012)</a:t>
            </a:r>
            <a:r>
              <a:rPr lang="en" sz="1200">
                <a:solidFill>
                  <a:schemeClr val="dk1"/>
                </a:solidFill>
              </a:rPr>
              <a:t>, plus typing, reaction-time, attention tasks, and — more recently — voice features.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</a:rPr>
              <a:t>Why this is insufficient as a “want-to-pass” gate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" sz="1200">
                <a:solidFill>
                  <a:schemeClr val="dk1"/>
                </a:solidFill>
              </a:rPr>
              <a:t>Gameable</a:t>
            </a:r>
            <a:r>
              <a:rPr lang="en" sz="1200">
                <a:solidFill>
                  <a:schemeClr val="dk1"/>
                </a:solidFill>
              </a:rPr>
              <a:t> — effort and practice can mask impairment when passing unlocks the shift.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" sz="1200">
                <a:solidFill>
                  <a:schemeClr val="dk1"/>
                </a:solidFill>
              </a:rPr>
              <a:t>Context-bound</a:t>
            </a:r>
            <a:r>
              <a:rPr lang="en" sz="1200">
                <a:solidFill>
                  <a:schemeClr val="dk1"/>
                </a:solidFill>
              </a:rPr>
              <a:t> — they need a task window or a walking scenario, impractical at a seated console.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" sz="1200">
                <a:solidFill>
                  <a:schemeClr val="dk1"/>
                </a:solidFill>
              </a:rPr>
              <a:t>Wrong target</a:t>
            </a:r>
            <a:r>
              <a:rPr lang="en" sz="1200">
                <a:solidFill>
                  <a:schemeClr val="dk1"/>
                </a:solidFill>
              </a:rPr>
              <a:t> — they measure performance (confounded by skill, fatigue, and practice), not a physiological signature of impairment.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Related work: ocular biomarkers of alcohol impairment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</a:rPr>
              <a:t>Gaze nystagmus (HGN / VGN) — involuntary, BAC-linked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Alcohol induces involuntary horizontal — and, at higher doses, vertical — gaze nystagmus that the subject can neither suppress nor perceive </a:t>
            </a:r>
            <a:r>
              <a:rPr i="1" lang="en" sz="1200">
                <a:solidFill>
                  <a:schemeClr val="dk2"/>
                </a:solidFill>
              </a:rPr>
              <a:t>(Wilkinson et al., 1974).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HGN is the most accurate single component of the NHTSA SFST battery for detecting BAC ≥ 0.08% </a:t>
            </a:r>
            <a:r>
              <a:rPr i="1" lang="en" sz="1200">
                <a:solidFill>
                  <a:schemeClr val="dk2"/>
                </a:solidFill>
              </a:rPr>
              <a:t>(Stuster &amp; Burns, 1998).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</a:rPr>
              <a:t>Pupillary light reflex (PLR) — autonomic, objective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Quantitative pupillometry detects subtle neurological / autonomic impairment in subjects who appear clinically normal </a:t>
            </a:r>
            <a:r>
              <a:rPr i="1" lang="en" sz="1200">
                <a:solidFill>
                  <a:schemeClr val="dk2"/>
                </a:solidFill>
              </a:rPr>
              <a:t>(Capó-Aponte et al., 2013)</a:t>
            </a:r>
            <a:r>
              <a:rPr lang="en" sz="1200">
                <a:solidFill>
                  <a:schemeClr val="dk1"/>
                </a:solidFill>
              </a:rPr>
              <a:t>; pupillary dynamics shift with alcohol </a:t>
            </a:r>
            <a:r>
              <a:rPr i="1" lang="en" sz="1200">
                <a:solidFill>
                  <a:schemeClr val="dk2"/>
                </a:solidFill>
              </a:rPr>
              <a:t>(Jochum et al., 2016).</a:t>
            </a:r>
            <a:endParaRPr/>
          </a:p>
          <a:p>
            <a:pPr indent="-209550" lvl="0" marL="28575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i="1" sz="1200"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i="1" lang="en" sz="1200"/>
              <a:t>Most related work: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i="1" lang="en" sz="1200">
                <a:solidFill>
                  <a:schemeClr val="dk2"/>
                </a:solidFill>
              </a:rPr>
              <a:t>	Using </a:t>
            </a:r>
            <a:r>
              <a:rPr b="1" lang="en" sz="1200">
                <a:solidFill>
                  <a:schemeClr val="dk1"/>
                </a:solidFill>
              </a:rPr>
              <a:t>nystagmus + PLR to check drug use using smartphone device link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b="1" i="1" lang="en" sz="1200">
                <a:solidFill>
                  <a:schemeClr val="dk1"/>
                </a:solidFill>
              </a:rPr>
              <a:t>		</a:t>
            </a:r>
            <a:endParaRPr i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Our approach: an active, self-administered ocular readiness check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365127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</a:rPr>
              <a:t>A few-second, self-administered eye test. The operator cooperates, but because pass/fail gates the shift, the test must withstand a motivated “want-to-pass” user.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</a:rPr>
              <a:t>Involuntary ocular biomarkers (PLR + horizontal / vertical nystagmus)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You can fake alertness on a reaction game, but you cannot suppress nystagmus or balance pupil dynamics — these are under autonomic, not voluntary, control.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</a:rPr>
              <a:t>Validation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dk1"/>
                </a:solidFill>
              </a:rPr>
              <a:t>Eric protocol: Multi-stage controlled-dosing ground truth: BrAC, SFST, and the Biphasic Alcohol Effects Scale </a:t>
            </a:r>
            <a:r>
              <a:rPr i="1" lang="en" sz="1200">
                <a:solidFill>
                  <a:schemeClr val="dk2"/>
                </a:solidFill>
              </a:rPr>
              <a:t>(B-BAES; Martin et al., 1993).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257175" lvl="0" marL="2571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FAA. 14 CFR §107.27 &amp; §91.17 — Operation of a small UAS under the influence of alcohol or drugs. U.S. Federal Aviation Administration.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FAA. UAS by the Numbers — remote pilot certification and drone registration data (2024).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SAE International. (2021). J3016: Taxonomy and Definitions for Terms Related to Driving Automation Systems (incl. remote driving).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U.S. DOT. 49 CFR Part 40 — Procedures for Transportation Workplace Drug and Alcohol Testing Programs.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Stuster, J., &amp; Burns, M. (1998). Validation of the Standardized Field Sobriety Test Battery at BACs Below 0.10 Percent. NHTSA, DOT HS 808 839.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Wilkinson, I. M. S., Kime, R., &amp; Purnell, M. (1974). Alcohol and human eye movement. Brain, 97(4), 785–792.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Suffoletto, B., et al. (2020). Using smartphone accelerometers to sense gait impairments due to alcohol intoxication. Journal of Studies on Alcohol and Drugs, 81(4), 505–510.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Kao, H.-L., Ho, B.-J., Lin, A. C., &amp; Chu, H.-H. (2012). Phone-based gait analysis to detect alcohol usage. UbiComp ’12, 661–662.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Capó-Aponte, J. E., et al. (2013). Pupillary light reflex as an objective biomarker for early identification of blast-induced mTBI.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Jochum, T., et al. (2016). Diverse autonomic regulation of pupillary function during alcohol withdrawal. Drug and Alcohol Dependence, 159, 142–151.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Czajka, A., &amp; Bowyer, K. W. (2018). Presentation attack detection for iris recognition: an assessment of the state of the art. ACM Computing Surveys, 51(4).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Rigas, I., &amp; Komogortsev, O. V. (2015). Eye movement-driven defense against iris print-attacks. Pattern Recognition Letters, 68, 202–208.</a:t>
            </a:r>
            <a:endParaRPr/>
          </a:p>
          <a:p>
            <a:pPr indent="-257175" lvl="0" marL="257175" rtl="0" algn="l">
              <a:lnSpc>
                <a:spcPct val="115000"/>
              </a:lnSpc>
              <a:spcBef>
                <a:spcPts val="170"/>
              </a:spcBef>
              <a:spcAft>
                <a:spcPts val="170"/>
              </a:spcAft>
              <a:buSzPct val="185328"/>
              <a:buFont typeface="Arial"/>
              <a:buAutoNum type="arabicPeriod"/>
            </a:pPr>
            <a:r>
              <a:rPr lang="en" sz="1050">
                <a:solidFill>
                  <a:schemeClr val="dk1"/>
                </a:solidFill>
              </a:rPr>
              <a:t>Martin, C. S., et al. (1993). Development and validation of the Biphasic Alcohol Effects Scale. Alcohol: Clinical and Experimental Research, 17(1), 140–146.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